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164592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3044952" cy="20116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" y="66476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Pachano et al.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4952" y="6656832"/>
            <a:ext cx="3044952" cy="201168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36392" y="66476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Kashyap et al. 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04" y="6656832"/>
            <a:ext cx="3044952" cy="201168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1344" y="66476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Zhu et al.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34856" y="6656832"/>
            <a:ext cx="3044952" cy="201168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6296" y="66476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Hu et al. 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Toxoplasma gondii 染色质重塑器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6E8F7"/>
                </a:solidFill>
              </a:rPr>
              <a:t>2025 年四篇竞争论文横向比较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39C12"/>
                </a:solidFill>
              </a:rPr>
              <a:t>Pachano · Kashyap · Zhu · Hu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8F7"/>
                </a:solidFill>
              </a:rPr>
              <a:t>Nature Microbiology  |  Nature Communications  ×3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D6E8F7"/>
                </a:solidFill>
              </a:rPr>
              <a:t>April – November 2025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99AA"/>
                </a:solidFill>
              </a:rPr>
              <a:t>Doctor Shang · Research Notes ·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背景：Toxoplasma 染色质调控全景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为什么 2025 年突然出现 4 篇相关论文？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39496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394960" cy="41148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T. gondii 基因组关键事实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916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200">
                <a:solidFill>
                  <a:srgbClr val="2C3E50"/>
                </a:solidFill>
              </a:rPr>
              <a:t>◆  75% 基因含内含子（vs 酵母 5%）— intron-rich genome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2C3E50"/>
                </a:solidFill>
              </a:rPr>
              <a:t>◆  复杂生活史：速殖子 → 缓殖子 → 裂殖子 → 配子体 → 卵囊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2C3E50"/>
                </a:solidFill>
              </a:rPr>
              <a:t>◆  每个生活史阶段有独立的基因表达程序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2C3E50"/>
                </a:solidFill>
              </a:rPr>
              <a:t>◆  67 个 ApiAP2 转录因子负责序列特异性结合</a:t>
            </a:r>
          </a:p>
          <a:p>
            <a:pPr algn="l">
              <a:spcBef>
                <a:spcPts val="200"/>
              </a:spcBef>
            </a:pPr>
            <a:r>
              <a:rPr sz="1200">
                <a:solidFill>
                  <a:srgbClr val="2C3E50"/>
                </a:solidFill>
              </a:rPr>
              <a:t>◆  MORC + HDAC3 是中心沉默枢纽，与 ≥12 个 ApiAP2 互作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188720"/>
            <a:ext cx="59436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1188720"/>
            <a:ext cx="5943600" cy="411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1207008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四大类 ATP 依赖染色质重塑器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1188720" cy="8686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193852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ISWI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1737360"/>
            <a:ext cx="4480560" cy="868680"/>
          </a:xfrm>
          <a:prstGeom prst="rect">
            <a:avLst/>
          </a:prstGeom>
          <a:solidFill>
            <a:srgbClr val="D6E8F7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8288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TgSNF2h (TGME49_321440)
TgSNF2L (TGME49_273870)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834639"/>
            <a:ext cx="1188720" cy="868680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303580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SWI/SNF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834639"/>
            <a:ext cx="4480560" cy="868680"/>
          </a:xfrm>
          <a:prstGeom prst="rect">
            <a:avLst/>
          </a:prstGeom>
          <a:solidFill>
            <a:srgbClr val="D6E8F7"/>
          </a:solidFill>
          <a:ln w="12700">
            <a:solidFill>
              <a:srgbClr val="2D9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92607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TgSNF2a (TGME49_278440)
TgSNF2b (TGME49_320300)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931920"/>
            <a:ext cx="1188720" cy="86868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4133087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INO80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9480" y="3931920"/>
            <a:ext cx="4480560" cy="86868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402335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TgSRCAP + TGME49_229460
TGME49_226440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029200"/>
            <a:ext cx="1188720" cy="8686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5230368"/>
            <a:ext cx="1152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CHD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69480" y="5029200"/>
            <a:ext cx="4480560" cy="868680"/>
          </a:xfrm>
          <a:prstGeom prst="rect">
            <a:avLst/>
          </a:prstGeom>
          <a:solidFill>
            <a:srgbClr val="D6E8F7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51206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TgCHD1 (TGME49_258240)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217920"/>
            <a:ext cx="1164031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23620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39C12"/>
                </a:solidFill>
              </a:rPr>
              <a:t>2025  Apr 11 Pachano  ·  Apr 22 Kashyap  ·  Jul 01 Zhu  ·  Nov 05 Hu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四篇论文基本信息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同一生物问题的四个切入角度，7 个月内密集发表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828800" cy="347472"/>
          </a:xfrm>
          <a:prstGeom prst="rect">
            <a:avLst/>
          </a:prstGeom>
          <a:solidFill>
            <a:srgbClr val="2E6D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1143000"/>
            <a:ext cx="2377440" cy="347472"/>
          </a:xfrm>
          <a:prstGeom prst="rect">
            <a:avLst/>
          </a:prstGeom>
          <a:solidFill>
            <a:srgbClr val="2E6D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39" y="11704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Pachano et 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143000"/>
            <a:ext cx="2377440" cy="347472"/>
          </a:xfrm>
          <a:prstGeom prst="rect">
            <a:avLst/>
          </a:prstGeom>
          <a:solidFill>
            <a:srgbClr val="2E6D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1704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Kashyap et 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143000"/>
            <a:ext cx="2377440" cy="347472"/>
          </a:xfrm>
          <a:prstGeom prst="rect">
            <a:avLst/>
          </a:prstGeom>
          <a:solidFill>
            <a:srgbClr val="2E6D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1704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Zhu et 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35440" y="1143000"/>
            <a:ext cx="2377440" cy="347472"/>
          </a:xfrm>
          <a:prstGeom prst="rect">
            <a:avLst/>
          </a:prstGeom>
          <a:solidFill>
            <a:srgbClr val="2E6D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1704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Hu et 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49047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51790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期刊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1490472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48839" y="151790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Nat Microbiol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490472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51790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Nat Commun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1490472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151790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Nat Commun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490472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51790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Nat Commun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837943"/>
            <a:ext cx="1828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865375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卷期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1837943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48839" y="1865375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10:1156-1170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1837943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1865375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16:3769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0" y="1837943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1865375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16:5757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1837943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1865375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16:9777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18541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2128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发表日期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218541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48839" y="22128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2025-04-11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218541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22128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2025-04-22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58000" y="218541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03720" y="22128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2025-07-01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218541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221284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2025-11-05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532888"/>
            <a:ext cx="1828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256032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通讯作者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2532888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48839" y="256032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M.-A. Hakimi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480560" y="2532888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26280" y="256032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A.S. Deshmukh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58000" y="2532888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256032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B. Shen (沈彬)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35440" y="2532888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2560320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X. Song (宋兴军)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880360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2907791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实验室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03120" y="288036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148839" y="2907791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Grenoble, France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0" y="288036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26280" y="2907791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Hyderabad, India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0" y="288036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903720" y="2907791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武汉，华中农大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288036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2907791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南宁，广西大学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227832"/>
            <a:ext cx="1828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325526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研究对象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03120" y="3227832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48839" y="325526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TgSNF2h (+SNF2L对比)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80560" y="3227832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26280" y="325526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TgCdc5 剪接因子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58000" y="3227832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03720" y="325526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TgSNF2L 复合物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3227832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81160" y="3255264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TgSNF2a + TgSNF2b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575304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3602736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蛋白家族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03120" y="35753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48839" y="360273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ISWI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80560" y="35753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26280" y="360273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Spliceosome NTC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858000" y="35753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03720" y="360273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ISWI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235440" y="35753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81160" y="3602736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SWI/SNF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922776"/>
            <a:ext cx="1828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" y="395020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一句话核心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103120" y="3922776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148839" y="3950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Insulator 阻止
MORC 蔓延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480560" y="3922776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526280" y="3950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剪接缺陷→
流产型缓殖子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858000" y="3922776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03720" y="3950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SNF2L 抑制
有性期基因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235440" y="3922776"/>
            <a:ext cx="2377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281160" y="3950208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SWI/SNF 激活
速殖子基因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03120" y="1143000"/>
            <a:ext cx="2377440" cy="109728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80560" y="1143000"/>
            <a:ext cx="2377440" cy="109728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858000" y="1143000"/>
            <a:ext cx="2377440" cy="109728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235440" y="1143000"/>
            <a:ext cx="2377440" cy="109728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Pachano et al. (2025) — TgSNF2h / ISWI 家族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Nat Microbiol 10:1156 | "TgSNF2h is the insulator that keeps MORC from silencing active genes"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40312" cy="6858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核心发现：TgSNF2h + TgRFTS + AP2VIII-2 形成 ISWI 复合物，在高转录基因上充当 Insulator，阻止 MORC 沉默机器向活跃区域蔓延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539496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E86AB"/>
                </a:solidFill>
              </a:rPr>
              <a:t>核心创新点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首次系统鉴定 Toxoplasma 两个 ISWI ATPase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发现 TgRFTS 作为 scaffold（SpRAF2 同源，但功能重定向）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首提 Toxoplasma 染色质 'Insulator' 概念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Epistatic control over MORC 蔓延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TgRFTS KD 完美表型复现（phenocopy）TgSNF2h KD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AlphaFold v2 + Foldseek 远缘结构同源分析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Nanopore direct RNA-seq 发现 read-through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965960"/>
            <a:ext cx="594360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2011680"/>
            <a:ext cx="2286000" cy="347472"/>
          </a:xfrm>
          <a:prstGeom prst="rect">
            <a:avLst/>
          </a:prstGeom>
          <a:solidFill>
            <a:srgbClr val="2E86A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03911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实验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2011680"/>
            <a:ext cx="3520440" cy="347472"/>
          </a:xfrm>
          <a:prstGeom prst="rect">
            <a:avLst/>
          </a:prstGeom>
          <a:solidFill>
            <a:srgbClr val="2E86A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结果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3591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38658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TgSNF2h IP-MS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2359152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38658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富集 TgRFTS + AP2VIII-2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2706624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273405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TgSNF2h KD ATAC-seq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20" y="2706624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273405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Chromatin accessibility 显著降低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05409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0815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TgSNF2L KD ATAC-seq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054096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3081528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⚠ 无显著变化（被 Zhu 挑战）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89320" y="3401568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34290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TgSNF2h KD MORC ChIP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401568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429000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MORC 蔓延到 active gene 区域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749039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37764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双向启动子分析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20" y="3749039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77647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KD 后两基因反相关—支持 insulator 模型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4096512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412394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TgRFTS vs TgSNF2h KD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5320" y="4096512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12394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转录组 &amp; ATAC-seq 高度一致（phenocopy）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Kashyap et al. (2025) — TgCdc5 / 剪接因子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Nat Commun 16:3769 | "TgCdc5 splicing maintains tachyzoite transcriptome; loss causes abortive bradyzoite"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40312" cy="68580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核心发现：TgCdc5 是剪接体 NTC 核心；缺失导致广泛内含子滞留 → 蛋白错误折叠 → 自发激活流产型缓殖子分化 → 虫体死亡；小鼠 KD 可作减毒疫苗候选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539496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A23B72"/>
                </a:solidFill>
              </a:rPr>
              <a:t>核心创新点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首次在 Toxoplasma 中表征剪接体 NTC 复合物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确立剪接抑制 → 缓殖子诱导因果链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酵母功能互补实验证明进化保守性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小鼠感染：KD 株完全减毒，激发保护性免疫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妊娠小鼠部分保护数据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Splicing minigene reporter 系统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MST 测 RNA-蛋白亲和力（U2 KD=440 nM）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011680"/>
            <a:ext cx="2286000" cy="347472"/>
          </a:xfrm>
          <a:prstGeom prst="rect">
            <a:avLst/>
          </a:prstGeom>
          <a:solidFill>
            <a:srgbClr val="A23B7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3911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实验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011680"/>
            <a:ext cx="3520440" cy="347472"/>
          </a:xfrm>
          <a:prstGeom prst="rect">
            <a:avLst/>
          </a:prstGeom>
          <a:solidFill>
            <a:srgbClr val="A23B7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3911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3591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38658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TgCdc5 IP-MS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359152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38658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146 互作蛋白，52 剪接体成员，NTC 8 核心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706624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73405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RNA-seq 剪接分析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706624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73405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20,987 事件受影响，82% 内含子滞留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05409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0815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Splicing reporter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054096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081528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KD 8h 后效率显著下降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401568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4290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TUNEL / Annexin-PI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401568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429000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~80% DNA 损伤；~32% 凋亡样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3749039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7764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Proteostat 染色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749039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77647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~22% 蛋白聚集体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096512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12394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小鼠感染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4096512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12394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KD 株减毒；激发保护性免疫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44398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47141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酵母互补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4443984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47141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TgCdc5 拯救 Δcef1，TgPrp19 拯救 Δprp19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Zhu et al. (2025) — TgSNF2L / ISWI 家族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Nat Commun 16:5757 | "TgSNF2L complex represses sexual genes; loss triggers in vitro out-budding"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40312" cy="685800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核心发现：TgSNF2L + SLIF1 + SLIF2 + AP2X-4 形成 4 亚基复合物（类 yeast ISW2），抑制肠上皮期/有性期基因；KD 导致罕见体外 out-budding 分裂模式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539496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187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F18701"/>
                </a:solidFill>
              </a:rPr>
              <a:t>核心创新点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首次发现体外 out-budding 分裂模式（猫肠道特征）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鉴定 SLIF1/SLIF2：Coccidia 特有的 accessory 蛋白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系统筛选 16 个 putative ATPase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直接挑战 Pachano：TgSNF2L KD 显著影响染色质可及性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mAID 6h 完全降解（vs Pachano 48h 仍可见）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TMT 蛋白组学 + 转录组学双重验证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SFINX 程序精确分析 IP-MS 互作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011680"/>
            <a:ext cx="2286000" cy="347472"/>
          </a:xfrm>
          <a:prstGeom prst="rect">
            <a:avLst/>
          </a:prstGeom>
          <a:solidFill>
            <a:srgbClr val="F1870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3911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实验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011680"/>
            <a:ext cx="3520440" cy="347472"/>
          </a:xfrm>
          <a:prstGeom prst="rect">
            <a:avLst/>
          </a:prstGeom>
          <a:solidFill>
            <a:srgbClr val="F18701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3911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3591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38658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6 个候选 mAID 表型筛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359152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38658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TgSNF2L KD 最严重（75% 异常分裂）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706624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73405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WB 降解动力学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706624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73405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IAA 6h 即不可检测（关键对照）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05409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0815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分裂模式量化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054096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081528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36h: 11% 裂殖子，38% out-budding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401568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4290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RNA-seq 12h KD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401568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429000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301 上调 / 193 下调；81% 上调 = EES/慢性期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3749039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7764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TMT 蛋白组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749039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77647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GRA11B, AAH2, PAN, MIC17B 蛋白上调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096512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12394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CUT&amp;Tag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4096512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12394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91.7% peaks 在启动子；两 strain 80% 重叠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44398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47141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 亚基复合物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4443984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47141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SNF2L+SLIF1+SLIF2+AP2X-4 reciprocal 验证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Hu et al. (2025) — TgSNF2a + TgSNF2b / SWI/SNF 家族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Nat Commun 16:9777 | "Two SWI/SNF ATPases cooperatively activate tachyzoite genes via direct MORC interaction"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40312" cy="685800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2344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核心发现：TgSNF2a 和 TgSNF2b 协同激活速殖子特异性细胞器基因；KD 导致不完全内复殖 + 淀粉蓄积；TgSNF2b 与 MORC/HDAC3 直接互作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65960"/>
            <a:ext cx="5394960" cy="4343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9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D935F"/>
                </a:solidFill>
              </a:rPr>
              <a:t>核心创新点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首次完整描述 Toxoplasma SWI/SNF 复合物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TgSNF2b 与 MORC/HDAC3 直接 Co-IP 互作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TgSNF2a × TgSNF2b 直接互作（Fig. 7d）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淀粉（amylopectin）蓄积表型（PAS 染色）—独特发现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双 KD + ATAC-seq 证明协同染色质可及性降低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TgMAPK-L1 机制解释不完全内复殖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Astral DIA 高灵敏度定量蛋白组</a:t>
            </a:r>
          </a:p>
          <a:p>
            <a:pPr algn="l">
              <a:spcBef>
                <a:spcPts val="200"/>
              </a:spcBef>
            </a:pPr>
            <a:r>
              <a:rPr sz="1150">
                <a:solidFill>
                  <a:srgbClr val="2C3E50"/>
                </a:solidFill>
              </a:rPr>
              <a:t>▸  严格阶段标志物组合 (SAG1+GRA82+IMC7+DBL) 否定真分化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2011680"/>
            <a:ext cx="2286000" cy="347472"/>
          </a:xfrm>
          <a:prstGeom prst="rect">
            <a:avLst/>
          </a:prstGeom>
          <a:solidFill>
            <a:srgbClr val="2D935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203911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实验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2011680"/>
            <a:ext cx="3520440" cy="347472"/>
          </a:xfrm>
          <a:prstGeom prst="rect">
            <a:avLst/>
          </a:prstGeom>
          <a:solidFill>
            <a:srgbClr val="2D935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3911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结果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35915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238658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RNA-seq (Pearson)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2359152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38658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TgSNF2a vs TgSNF2b: r = 0.95，共享 2207 DEG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2706624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273405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多核率 (TgSNF2b)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75320" y="2706624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273405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11% → 72%（第 2→7 天）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305409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308152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TgSNF2a×b Co-IP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3054096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081528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直接互作（Fig.7d）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401568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34290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TgSNF2b × MORC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3401568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429000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直接 Co-IP（Fig.7e）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89320" y="3749039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35040" y="377647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TgSNF2b × HDAC3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3749039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776472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直接 Co-IP（Fig.7f）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89320" y="4096512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4123944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ATAC-seq (dKD)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4096512"/>
            <a:ext cx="352044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123944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455 启动子可及性降低，98% 下调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444398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4471416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MORC 结合重叠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20" y="4443984"/>
            <a:ext cx="3520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471416"/>
            <a:ext cx="3429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86% SWI/SNF 启动子与 MORC 重叠（P=9e-139）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方法学全景对比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四篇论文技术路线的优势与互补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292608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70432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技术 / 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43000"/>
            <a:ext cx="210312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17043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Pachano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143000"/>
            <a:ext cx="210312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117043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Kashyap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143000"/>
            <a:ext cx="210312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117043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Zhu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59" y="1143000"/>
            <a:ext cx="2103120" cy="347472"/>
          </a:xfrm>
          <a:prstGeom prst="rect">
            <a:avLst/>
          </a:prstGeom>
          <a:solidFill>
            <a:srgbClr val="1A3A5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117043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49047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517904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mAID 条件敲减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149047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46120" y="151790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慢(48h)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149047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151790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&lt;1h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49047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151790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6h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59" y="149047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151790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12h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837943"/>
            <a:ext cx="292608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865375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IP-MS 互作组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1837943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1865375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LC-MS/MS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1837943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0" y="1865375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1837943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52360" y="1865375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59" y="1837943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1865375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Astral DIA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18541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221284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ChIP-seq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18541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46120" y="221284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218541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49240" y="221284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06640" y="218541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221284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59" y="218541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55480" y="221284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532888"/>
            <a:ext cx="292608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2560320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CUT&amp;Tag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2532888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256032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2532888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49240" y="256032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6640" y="2532888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52360" y="256032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59" y="2532888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5480" y="256032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288036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0040" y="2907791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ATAC-seq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288036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46120" y="2907791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288036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0" y="2907791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06640" y="288036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52360" y="2907791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09759" y="288036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55480" y="2907791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(dKD)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3227832"/>
            <a:ext cx="292608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3255264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Nanopore DRS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3227832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46120" y="325526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独有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3227832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9240" y="325526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06640" y="3227832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52360" y="325526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09759" y="3227832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55480" y="325526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3575304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3602736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Illumina RNA-seq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357530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46120" y="3602736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303520" y="357530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49240" y="3602736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406640" y="357530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52360" y="3602736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509759" y="3575304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555480" y="3602736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922776"/>
            <a:ext cx="292608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0040" y="395020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TMT/定量蛋白组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3922776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46120" y="395020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03520" y="3922776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349240" y="395020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06640" y="3922776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52360" y="395020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509759" y="3922776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555480" y="395020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4270248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0040" y="4297680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酵母功能互补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00400" y="427024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246120" y="429768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303520" y="427024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349240" y="429768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独有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06640" y="427024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452360" y="429768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509759" y="4270248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555480" y="429768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4617720"/>
            <a:ext cx="292608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0040" y="4645152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MST RNA-蛋白亲和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200400" y="4617720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246120" y="464515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303520" y="4617720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349240" y="464515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独有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406640" y="4617720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452360" y="464515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509759" y="4617720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555480" y="464515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74320" y="496519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20040" y="4992624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TEM 超微结构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00400" y="496519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246120" y="499262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303520" y="496519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49240" y="499262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406640" y="496519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452360" y="499262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9509759" y="4965192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555480" y="4992624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5312664"/>
            <a:ext cx="292608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" y="5340096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小鼠体内感染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200400" y="5312664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246120" y="5340096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303520" y="5312664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349240" y="5340096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独有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406640" y="5312664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452360" y="5340096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509759" y="5312664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555480" y="5340096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566013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320040" y="5687568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PAS 淀粉染色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00400" y="566013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246120" y="568756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303520" y="566013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349240" y="568756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406640" y="566013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452360" y="568756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509759" y="5660136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555480" y="5687568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独有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74320" y="6007608"/>
            <a:ext cx="292608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20040" y="6035040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AlphaFold 结构预测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200400" y="6007608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246120" y="603504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独有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5303520" y="6007608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5349240" y="603504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406640" y="6007608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452360" y="603504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509759" y="6007608"/>
            <a:ext cx="21031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555480" y="6035040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320" y="635508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20040" y="6382512"/>
            <a:ext cx="2834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阶段标志物 panel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3200400" y="635508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246120" y="638251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基础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5303520" y="635508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5349240" y="638251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406640" y="635508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452360" y="638251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509759" y="6355080"/>
            <a:ext cx="2103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555480" y="6382512"/>
            <a:ext cx="20116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✓ 最全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20040" y="6199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方法全面性（综合评分）: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4572000" y="6172200"/>
            <a:ext cx="1399032" cy="34747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6016752" y="6190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Pachano 8.5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400800" y="6172200"/>
            <a:ext cx="1316736" cy="347472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763256" y="6190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23B72"/>
                </a:solidFill>
              </a:rPr>
              <a:t>Kashyap 8.0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229600" y="6172200"/>
            <a:ext cx="1152144" cy="347472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427464" y="6190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18701"/>
                </a:solidFill>
              </a:rPr>
              <a:t>Zhu 7.0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10058400" y="6172200"/>
            <a:ext cx="1316736" cy="347472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11420856" y="619048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935F"/>
                </a:solidFill>
              </a:rPr>
              <a:t>Hu 8.0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核心结论对比矩阵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共识、分歧与各论文独有贡献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548640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7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solidFill>
            <a:srgbClr val="27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07008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四篇共识（Consensus）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0020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✔  染色质重塑器 KD → 阶段特异性基因表达改变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✔  均出现异常分裂模式（内复殖样或裂殖子样）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✔  有性期 / EES 期基因的去抑制（de-repression）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✔  MORC-HDAC3 是沉默枢纽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✔  ApiAP2 转录因子在染色质靶向中关键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2C3E50"/>
                </a:solidFill>
              </a:rPr>
              <a:t>✔  Apicomplexa 特异性 scaffold/accessory 蛋白是新创新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88720"/>
            <a:ext cx="585216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188720"/>
            <a:ext cx="585216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20700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 关键冲突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600200"/>
            <a:ext cx="2286000" cy="347472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627632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1600200"/>
            <a:ext cx="1645920" cy="347472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6276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Pachano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12680" y="1600200"/>
            <a:ext cx="1645920" cy="347472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0" y="162763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Zhu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94767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975103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TgSNF2L 影响
ATAC-seq？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9476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975103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无影响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12680" y="194767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0" y="1975103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显著降低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295144"/>
            <a:ext cx="22860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2322575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TgSNF2L KD
表型严重性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2295144"/>
            <a:ext cx="16459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322575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轻微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2295144"/>
            <a:ext cx="16459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2322575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75% 异常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264261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0" y="2670048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根本原因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66760" y="264261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267004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12680" y="264261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8400" y="267004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mAID 降解
不完全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023360"/>
            <a:ext cx="11640312" cy="2514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023360"/>
            <a:ext cx="11640312" cy="36576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041648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阶段转化（Stage Conversion）议题 — 各篇结论不同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434840"/>
            <a:ext cx="1645920" cy="347472"/>
          </a:xfrm>
          <a:prstGeom prst="rect">
            <a:avLst/>
          </a:prstGeom>
          <a:solidFill>
            <a:srgbClr val="E87A2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59" y="446227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论文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65960" y="4434840"/>
            <a:ext cx="3200400" cy="347472"/>
          </a:xfrm>
          <a:prstGeom prst="rect">
            <a:avLst/>
          </a:prstGeom>
          <a:solidFill>
            <a:srgbClr val="E87A2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11679" y="446227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观察到的表型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66360" y="4434840"/>
            <a:ext cx="3200400" cy="347472"/>
          </a:xfrm>
          <a:prstGeom prst="rect">
            <a:avLst/>
          </a:prstGeom>
          <a:solidFill>
            <a:srgbClr val="E87A2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12080" y="446227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是否真正阶段转化？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4434840"/>
            <a:ext cx="3383280" cy="347472"/>
          </a:xfrm>
          <a:prstGeom prst="rect">
            <a:avLst/>
          </a:prstGeom>
          <a:solidFill>
            <a:srgbClr val="E87A2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4462272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机制解释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78231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59" y="4809744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Kashyap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965960" y="478231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11679" y="4809744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BAG1+, CST1+, DBL+ (缓殖子标志)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66360" y="478231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12080" y="4809744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流产型（abortive），虫体死亡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66760" y="4782312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4809744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剪接缺陷 → 应激 → 缓殖子信号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129783"/>
            <a:ext cx="16459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5157216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Zhu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965960" y="5129783"/>
            <a:ext cx="3200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11679" y="515721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PF16+, 多线粒体（雄配子特征）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166360" y="5129783"/>
            <a:ext cx="3200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12080" y="515721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部分形态变化，非完整分化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66760" y="5129783"/>
            <a:ext cx="338328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5157216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有性期基因释放 → 形态改变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547725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5759" y="5504688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Hu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965960" y="5477256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11679" y="550468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裂殖子基因上调，SAG1+ 贯穿始终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66360" y="5477256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12080" y="550468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明确否定（Not conversion）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66760" y="5477256"/>
            <a:ext cx="33832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12480" y="5504688"/>
            <a:ext cx="3291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去抑制 ≠ 阶段转化，速殖子身份保留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关键冲突点详解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Pachano vs Zhu (TgSNF2L) · Hu vs Schwarz (SWI/SNF architecture)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43000"/>
            <a:ext cx="11640312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161288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冲突 1：TgSNF2L KD 表型 — Pachano (2025-04) vs Zhu (2025-07)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54480"/>
            <a:ext cx="3200400" cy="347472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" y="158191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指标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1554480"/>
            <a:ext cx="3931920" cy="347472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Pachano et 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52360" y="1554480"/>
            <a:ext cx="3931920" cy="347472"/>
          </a:xfrm>
          <a:prstGeom prst="rect">
            <a:avLst/>
          </a:prstGeom>
          <a:solidFill>
            <a:srgbClr val="C0392B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0" y="158191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Zhu et 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90195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59" y="1929384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TgSNF2L KD 表型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20440" y="190195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92938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轻微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190195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92938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75% 异常分裂（最严重）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249424"/>
            <a:ext cx="3200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" y="227685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Chromatin accessibility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249424"/>
            <a:ext cx="39319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2276856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无显著变化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2249424"/>
            <a:ext cx="39319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0" y="2276856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显著降低（54% target）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596896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59" y="2624327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mAID 降解验证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2596896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2624327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48h WB 仍可检测到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60" y="2596896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0" y="2624327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6h WB 即不可检测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944368"/>
            <a:ext cx="3200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59" y="2971799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复合物描述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20440" y="2944368"/>
            <a:ext cx="39319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66160" y="2971799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未深挖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2944368"/>
            <a:ext cx="393192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0" y="2971799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SNF2L+SLIF1+SLIF2+AP2X-4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291839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59" y="3319271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结论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20440" y="3291839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3319271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TgSNF2h vs TgSNF2L 功能各异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3291839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0" y="3319271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SNF2L 是重要的有性期基因抑制子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749039"/>
            <a:ext cx="11548872" cy="502920"/>
          </a:xfrm>
          <a:prstGeom prst="rect">
            <a:avLst/>
          </a:prstGeom>
          <a:solidFill>
            <a:srgbClr val="FFEEEE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377647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392B"/>
                </a:solidFill>
              </a:rPr>
              <a:t>Zhu 原文："Such discrepancy is likely due to the incomplete depletion of SNF2L in the Pachano et al. study."  →  mAID 降解必须 WB 多时间点严格验证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389120"/>
            <a:ext cx="11640312" cy="365760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0040" y="4407408"/>
            <a:ext cx="11521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冲突 2：SWI/SNF 复合物构型 — Hu (2025-11) vs Schwarz (2026-05)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800600"/>
            <a:ext cx="2743200" cy="347472"/>
          </a:xfrm>
          <a:prstGeom prst="rect">
            <a:avLst/>
          </a:prstGeom>
          <a:solidFill>
            <a:srgbClr val="2D935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59" y="4828032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模型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063240" y="4800600"/>
            <a:ext cx="4114800" cy="347472"/>
          </a:xfrm>
          <a:prstGeom prst="rect">
            <a:avLst/>
          </a:prstGeom>
          <a:solidFill>
            <a:srgbClr val="2D935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08960" y="4828032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Hu et al.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78040" y="4800600"/>
            <a:ext cx="4114800" cy="347472"/>
          </a:xfrm>
          <a:prstGeom prst="rect">
            <a:avLst/>
          </a:prstGeom>
          <a:solidFill>
            <a:srgbClr val="2D935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23759" y="4828032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Schwarz et al.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5148072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59" y="5175504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TgSNF2a × TgSNF2b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063240" y="514807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108960" y="5175504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直接 Co-IP 互作（Fig.7d）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78040" y="514807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223759" y="5175504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稳定性检验显示两个独立复合物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" y="5495544"/>
            <a:ext cx="27432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59" y="5522976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解读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495544"/>
            <a:ext cx="4114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108960" y="5522976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协同双 ATPase 复合物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178040" y="5495544"/>
            <a:ext cx="4114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223759" y="5522976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两个互斥复合物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5843016"/>
            <a:ext cx="27432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59" y="5870448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证据基础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63240" y="584301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108960" y="5870448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直接生化（Co-IP）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78040" y="584301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23759" y="5870448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稳定性推断 + ALFA-CUT&amp;RUN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6190488"/>
            <a:ext cx="27432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759" y="6217920"/>
            <a:ext cx="26517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调和方式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63240" y="6190488"/>
            <a:ext cx="4114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0" y="6217920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Dynamic exchange model — 共享 scaffold 但动态交换 ATPase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78040" y="6190488"/>
            <a:ext cx="4114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23759" y="6217920"/>
            <a:ext cx="4023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需要 SEC-MALS/BN-PAGE/cryo-EM 最终裁决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统一框架：四篇 paper 收敛的核心模型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三层调控模型 + 所有通路汇聚于速殖子身份维持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11640312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11640312" cy="3200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16152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1  ATP 依赖染色质重塑器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1005840" cy="1188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783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ISWI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57276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1645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TgSNF2h+TgRFTS+AP2VIII-2
Insulator，防 MORC 蔓延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572768"/>
            <a:ext cx="1005840" cy="1188720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59" y="1783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ISWI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157276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F187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645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TgSNF2L+SLIF1+SLIF2+AP2X-4
抑制有性期/EES 基因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1572768"/>
            <a:ext cx="1005840" cy="1188720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783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SWI/SNF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157276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2D9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59" y="16459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TgSNF2a+TgSNF2b 复合物
直接激活速殖子基因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017520"/>
            <a:ext cx="11640312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11640312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044951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2  沉默枢纽 (Silencing Hub)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01568"/>
            <a:ext cx="1005840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6118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MORC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08760" y="340156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3474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MORC + HDAC3
+ AP2XII-1/XI-2/XII-5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401568"/>
            <a:ext cx="1005840" cy="1188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59" y="36118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57800" y="340156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3474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抑制阶段特异性基因
在速殖子期 OFF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3401568"/>
            <a:ext cx="1005840" cy="1188720"/>
          </a:xfrm>
          <a:prstGeom prst="rect">
            <a:avLst/>
          </a:prstGeom>
          <a:solidFill>
            <a:srgbClr val="2E6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01000" y="36118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输入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340156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59" y="347472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接收来自染色质重塑器
的可及性信号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4663440"/>
            <a:ext cx="11640312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4663440"/>
            <a:ext cx="11640312" cy="3200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690872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LAYER 3  转录组完整性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047488"/>
            <a:ext cx="1005840" cy="118872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257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Splicing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08760" y="504748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54480" y="5120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TgCdc5/NTC 剪接体
确保正确 mRNA 产生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5047488"/>
            <a:ext cx="1005840" cy="118872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59" y="5257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影响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7800" y="504748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5120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内含子滞留 → 错误蛋白
→ 应激 → 缓殖子信号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5047488"/>
            <a:ext cx="1005840" cy="1188720"/>
          </a:xfrm>
          <a:prstGeom prst="rect">
            <a:avLst/>
          </a:prstGeom>
          <a:solidFill>
            <a:srgbClr val="277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01000" y="525780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结果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5047488"/>
            <a:ext cx="2560320" cy="1188720"/>
          </a:xfrm>
          <a:prstGeom prst="rect">
            <a:avLst/>
          </a:prstGeom>
          <a:solidFill>
            <a:srgbClr val="D6E8F7"/>
          </a:solidFill>
          <a:ln w="12700">
            <a:solidFill>
              <a:srgbClr val="277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59" y="51206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功能蛋白翻译
维持速殖子表型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492240"/>
            <a:ext cx="11640312" cy="25603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6510528"/>
            <a:ext cx="11521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39C12"/>
                </a:solidFill>
              </a:rPr>
              <a:t>OUTCOME ▸  速殖子身份维持 · 正确分裂方式 · 侵袭性基因 ON · 有性/缓殖子基因 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开放问题与未来方向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6E8F7"/>
                </a:solidFill>
              </a:rPr>
              <a:t>四篇 paper 留下的关键问题 + 方法学教训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914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656832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9AABB"/>
                </a:solidFill>
              </a:rPr>
              <a:t>Doctor Shang · Research Notes · May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188720"/>
            <a:ext cx="722376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7223760" cy="3657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207008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Open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3200400" cy="347472"/>
          </a:xfrm>
          <a:prstGeom prst="rect">
            <a:avLst/>
          </a:prstGeom>
          <a:solidFill>
            <a:srgbClr val="2E6D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59" y="162763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1600200"/>
            <a:ext cx="1828800" cy="347472"/>
          </a:xfrm>
          <a:prstGeom prst="rect">
            <a:avLst/>
          </a:prstGeom>
          <a:solidFill>
            <a:srgbClr val="2E6D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627632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来源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49240" y="1600200"/>
            <a:ext cx="2057400" cy="347472"/>
          </a:xfrm>
          <a:prstGeom prst="rect">
            <a:avLst/>
          </a:prstGeom>
          <a:solidFill>
            <a:srgbClr val="2E6DA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59" y="1627632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解决方案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1947672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59" y="1975103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TgSNF2a vs SNF2b 是否
形成两个独立复合物？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194767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1975103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Hu vs Schwarz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1947672"/>
            <a:ext cx="2057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59" y="1975103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SEC-MALS
BN-PAGE
cryo-EM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295144"/>
            <a:ext cx="3200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59" y="2322575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TgRFTS RFTS domain
在 Toxoplasma 的新功能？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2295144"/>
            <a:ext cx="1828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2322575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Pachano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2295144"/>
            <a:ext cx="2057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59" y="2322575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结构生物学
+ domain swap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2642616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" y="267004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SLIF1/SLIF2 在
Plasmodium 的同源物？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520440" y="264261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2670048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Zhu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49240" y="2642616"/>
            <a:ext cx="2057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59" y="2670048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Plasmodium
IP-MS 验证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2990088"/>
            <a:ext cx="3200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301752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MORC 蔓延后的物理形式？
是否形成 condensate？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20440" y="2990088"/>
            <a:ext cx="1828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3017520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Pachano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49240" y="2990088"/>
            <a:ext cx="2057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59" y="3017520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活细胞成像
+ 生化表征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337560"/>
            <a:ext cx="3200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59" y="3364991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不同重塑器 KD 释放
不同基因子集的原因？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40" y="3337560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3364991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全部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3337560"/>
            <a:ext cx="2057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94959" y="3364991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全 KD panel +
比较转录组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3685032"/>
            <a:ext cx="3200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59" y="3712464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细胞周期中重塑器动态？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20440" y="3685032"/>
            <a:ext cx="18288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66160" y="3712464"/>
            <a:ext cx="17373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Schwarz 部分回答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49240" y="3685032"/>
            <a:ext cx="2057400" cy="347472"/>
          </a:xfrm>
          <a:prstGeom prst="rect">
            <a:avLst/>
          </a:prstGeom>
          <a:solidFill>
            <a:srgbClr val="D6E8F7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94959" y="3712464"/>
            <a:ext cx="1965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3E50"/>
                </a:solidFill>
              </a:rPr>
              <a:t>同步化 +
时间分辨 CUT&amp;RUN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1188720"/>
            <a:ext cx="411480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A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1188720"/>
            <a:ext cx="4114800" cy="36576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18120" y="1207008"/>
            <a:ext cx="4023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方法学教训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63840" y="1645920"/>
            <a:ext cx="320040" cy="54864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82127" y="17373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1645920"/>
            <a:ext cx="3520440" cy="5486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75320" y="171907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mAID 必须 WB 多时间点
验证降解（Pachano vs Zhu）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863840" y="2395728"/>
            <a:ext cx="320040" cy="54864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882127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29600" y="2395728"/>
            <a:ext cx="3520440" cy="5486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75320" y="246888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CUT&amp;Tag 分辨率
不及 CUT&amp;RUN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863840" y="3145536"/>
            <a:ext cx="320040" cy="54864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82127" y="323697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3145536"/>
            <a:ext cx="3520440" cy="5486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5320" y="321868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OE 系数据
需谨慎解读（Hu）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63840" y="3895344"/>
            <a:ext cx="320040" cy="54864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82127" y="3986783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29600" y="3895344"/>
            <a:ext cx="3520440" cy="5486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75320" y="396849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阶段标志物 panel
不可或缺（Hu 示范）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863840" y="4645152"/>
            <a:ext cx="320040" cy="54864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882127" y="473659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229600" y="4645152"/>
            <a:ext cx="3520440" cy="5486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75320" y="471830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双 KD &gt; 单 KD
（功能冗余蛋白）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63840" y="5394959"/>
            <a:ext cx="320040" cy="548640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82127" y="548639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5394959"/>
            <a:ext cx="3520440" cy="548640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275320" y="54681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</a:rPr>
              <a:t>De-repression ≠
Stage conversion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0F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05072"/>
            <a:ext cx="12188952" cy="164592"/>
          </a:xfrm>
          <a:prstGeom prst="rect">
            <a:avLst/>
          </a:prstGeom>
          <a:solidFill>
            <a:srgbClr val="E8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Take-Home Messages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5486400" cy="1280160"/>
          </a:xfrm>
          <a:prstGeom prst="rect">
            <a:avLst/>
          </a:prstGeom>
          <a:solidFill>
            <a:srgbClr val="1E4770"/>
          </a:solidFill>
          <a:ln w="25400">
            <a:solidFill>
              <a:srgbClr val="2D9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5486400" cy="320040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710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MORC 是主协调者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四篇 paper 中不同染色质重塑器均通过不同路径与 MORC-HDAC3 枢纽关联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234440"/>
            <a:ext cx="5486400" cy="1280160"/>
          </a:xfrm>
          <a:prstGeom prst="rect">
            <a:avLst/>
          </a:prstGeom>
          <a:solidFill>
            <a:srgbClr val="1E4770"/>
          </a:solidFill>
          <a:ln w="25400">
            <a:solidFill>
              <a:srgbClr val="F187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34440"/>
            <a:ext cx="5486400" cy="320040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7101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De-repression ≠ 阶段转化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184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Hu 严格区分了基因去抑制与真正阶段身份转换，是概念层面重要贡献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51760"/>
            <a:ext cx="5486400" cy="1280160"/>
          </a:xfrm>
          <a:prstGeom prst="rect">
            <a:avLst/>
          </a:prstGeom>
          <a:solidFill>
            <a:srgbClr val="1E4770"/>
          </a:solidFill>
          <a:ln w="2540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5486400" cy="3200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883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应激 vs 染色质两条路径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3580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Kashyap（剪接）和 Hu（染色质）通过不同机制都可触发缓殖子信号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651760"/>
            <a:ext cx="5486400" cy="1280160"/>
          </a:xfrm>
          <a:prstGeom prst="rect">
            <a:avLst/>
          </a:prstGeom>
          <a:solidFill>
            <a:srgbClr val="1E4770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651760"/>
            <a:ext cx="548640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68833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Apicomplexan-specific scaffolds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03580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7"/>
                </a:solidFill>
              </a:rPr>
              <a:t>TgRFTS, SLIF1/2 代表寄生虫特异的创新；是潜在的抗寄生虫靶点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60520"/>
            <a:ext cx="2743200" cy="2468880"/>
          </a:xfrm>
          <a:prstGeom prst="rect">
            <a:avLst/>
          </a:prstGeom>
          <a:solidFill>
            <a:srgbClr val="1A304A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160520"/>
            <a:ext cx="2743200" cy="3200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1788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Pachano et 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Nat Microbiol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956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TgSNF2h ISWI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3400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Insulator/MORC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4160520"/>
            <a:ext cx="2743200" cy="2468880"/>
          </a:xfrm>
          <a:prstGeom prst="rect">
            <a:avLst/>
          </a:prstGeom>
          <a:solidFill>
            <a:srgbClr val="1A304A"/>
          </a:solidFill>
          <a:ln w="19050">
            <a:solidFill>
              <a:srgbClr val="A23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0" y="4160520"/>
            <a:ext cx="2743200" cy="320040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0" y="41788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Kashyap et al.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4572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Nat Commun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956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TgCdc5 NTC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3400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Splicing→Bradyz.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160520"/>
            <a:ext cx="2743200" cy="2468880"/>
          </a:xfrm>
          <a:prstGeom prst="rect">
            <a:avLst/>
          </a:prstGeom>
          <a:solidFill>
            <a:srgbClr val="1A304A"/>
          </a:solidFill>
          <a:ln w="19050">
            <a:solidFill>
              <a:srgbClr val="F187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4160520"/>
            <a:ext cx="2743200" cy="320040"/>
          </a:xfrm>
          <a:prstGeom prst="rect">
            <a:avLst/>
          </a:prstGeom>
          <a:solidFill>
            <a:srgbClr val="F187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1788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Zhu et 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572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Nat Commun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4956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TgSNF2L ISWI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53400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Out-budding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4160520"/>
            <a:ext cx="2743200" cy="2468880"/>
          </a:xfrm>
          <a:prstGeom prst="rect">
            <a:avLst/>
          </a:prstGeom>
          <a:solidFill>
            <a:srgbClr val="1A304A"/>
          </a:solidFill>
          <a:ln w="19050">
            <a:solidFill>
              <a:srgbClr val="2D9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9680" y="4160520"/>
            <a:ext cx="2743200" cy="320040"/>
          </a:xfrm>
          <a:prstGeom prst="rect">
            <a:avLst/>
          </a:prstGeom>
          <a:solidFill>
            <a:srgbClr val="2D93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61120" y="41788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Hu et 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5720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Nat Commun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9560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TgSNF2a/b SWI/SNF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53400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6E8F7"/>
                </a:solidFill>
              </a:rPr>
              <a:t>Direct MORC PPI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656832"/>
            <a:ext cx="11612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8AA"/>
                </a:solidFill>
              </a:rPr>
              <a:t>Doctor Shang · Research Notes ·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